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Roboto" panose="02000000000000000000" pitchFamily="2" charset="0"/>
      <p:regular r:id="rId13"/>
    </p:embeddedFont>
    <p:embeddedFont>
      <p:font typeface="Saira Medium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292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44103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Autonomous ML Model Monitoring &amp; Drift Management Platform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1060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MLOps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Cloud AI | ML Systems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1869638" y="5428655"/>
            <a:ext cx="1629370" cy="456724"/>
          </a:xfrm>
          <a:prstGeom prst="roundRect">
            <a:avLst>
              <a:gd name="adj" fmla="val 35758"/>
            </a:avLst>
          </a:prstGeom>
          <a:noFill/>
          <a:ln w="15240">
            <a:solidFill>
              <a:srgbClr val="FC833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020967" y="5511879"/>
            <a:ext cx="132671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ANJALI KUMARI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12356" y="5428655"/>
            <a:ext cx="1948220" cy="456724"/>
          </a:xfrm>
          <a:prstGeom prst="roundRect">
            <a:avLst>
              <a:gd name="adj" fmla="val 35758"/>
            </a:avLst>
          </a:prstGeom>
          <a:noFill/>
          <a:ln w="15240">
            <a:solidFill>
              <a:srgbClr val="FC833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763685" y="5511879"/>
            <a:ext cx="164556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VAISHNAVI PANDEY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673923" y="5428655"/>
            <a:ext cx="1600319" cy="456724"/>
          </a:xfrm>
          <a:prstGeom prst="roundRect">
            <a:avLst>
              <a:gd name="adj" fmla="val 35758"/>
            </a:avLst>
          </a:prstGeom>
          <a:noFill/>
          <a:ln w="15240">
            <a:solidFill>
              <a:srgbClr val="FC833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25252" y="5511879"/>
            <a:ext cx="129766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ABHAY TARKAR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2551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The Silent Crisis in Production ML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983230"/>
            <a:ext cx="3664744" cy="2078474"/>
          </a:xfrm>
          <a:prstGeom prst="roundRect">
            <a:avLst>
              <a:gd name="adj" fmla="val 9822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29864" y="3232904"/>
            <a:ext cx="30362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⚠</a:t>
            </a: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 Silent Model Failure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29864" y="3723323"/>
            <a:ext cx="316539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Models degrade undetected in production — no alerts, no visibility, no response.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2983230"/>
            <a:ext cx="3664863" cy="2078474"/>
          </a:xfrm>
          <a:prstGeom prst="roundRect">
            <a:avLst>
              <a:gd name="adj" fmla="val 9822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21422" y="32329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📉</a:t>
            </a: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 Data Drift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21422" y="3723323"/>
            <a:ext cx="31655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Incoming data distributions shift over time, making trained models increasingly unreliable.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288518"/>
            <a:ext cx="7556421" cy="1715572"/>
          </a:xfrm>
          <a:prstGeom prst="roundRect">
            <a:avLst>
              <a:gd name="adj" fmla="val 11900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29864" y="55381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🕐</a:t>
            </a: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 Late Detection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29864" y="6028611"/>
            <a:ext cx="705707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Issues surface only after significant business damage — costly and hard to reverse.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40036"/>
            <a:ext cx="855857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Why Existing Systems Fall Short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2402443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252907"/>
            <a:ext cx="29669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No Real-Time Visibility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743325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Metrics are logged but never actively watched. Teams fly blind until failures cascade.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2402443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Manual Retraining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56884" y="3743325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Engineers manually trigger retraining — slow, error-prone, and unscalable in production.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4922758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57732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Poor Audit Logs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93790" y="6263640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structured record of drift events, model versions, or retraining decisions. Compliance risk.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492275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6884" y="57732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Delayed Alerting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456884" y="6263640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Threshold-based alerts fire too late — reactive, not proactive monitoring.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619125"/>
            <a:ext cx="7047190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Our Solution: Close the Loop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56642" y="1706880"/>
            <a:ext cx="1311711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fully autonomous platform that </a:t>
            </a:r>
            <a:r>
              <a:rPr lang="en-US" sz="170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detects, decides, and acts</a:t>
            </a: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without human intervention.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668" y="2276475"/>
            <a:ext cx="12696944" cy="47644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09931" y="3490054"/>
            <a:ext cx="655839" cy="65583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225620" y="5884277"/>
            <a:ext cx="1915050" cy="3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Deploy</a:t>
            </a:r>
            <a:endParaRPr lang="en-US" sz="2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08946" y="3491284"/>
            <a:ext cx="655839" cy="65583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12133" y="5884277"/>
            <a:ext cx="1915050" cy="3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Retrain</a:t>
            </a:r>
            <a:endParaRPr lang="en-US" sz="23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08575" y="3491284"/>
            <a:ext cx="655839" cy="655839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11762" y="5884277"/>
            <a:ext cx="1915050" cy="3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Decide</a:t>
            </a:r>
            <a:endParaRPr lang="en-US" sz="23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08204" y="3491284"/>
            <a:ext cx="655839" cy="655839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011390" y="5884277"/>
            <a:ext cx="1915050" cy="3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Detect</a:t>
            </a:r>
            <a:endParaRPr lang="en-US" sz="23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94717" y="3491284"/>
            <a:ext cx="655839" cy="655839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558553" y="5884277"/>
            <a:ext cx="1915050" cy="3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Monitor</a:t>
            </a:r>
            <a:endParaRPr lang="en-US" sz="2300" dirty="0"/>
          </a:p>
        </p:txBody>
      </p:sp>
      <p:sp>
        <p:nvSpPr>
          <p:cNvPr id="15" name="Text 7"/>
          <p:cNvSpPr/>
          <p:nvPr/>
        </p:nvSpPr>
        <p:spPr>
          <a:xfrm>
            <a:off x="756642" y="7272695"/>
            <a:ext cx="1311711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stage is automated, logged, and observable — from drift signal to deployment.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6014" y="475178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Platform Architecture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014" y="1341596"/>
            <a:ext cx="6269236" cy="626923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6014" y="1341596"/>
            <a:ext cx="6269236" cy="62692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37922" y="1987391"/>
            <a:ext cx="246495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Key System Components</a:t>
            </a:r>
            <a:endParaRPr lang="en-US" sz="1650" dirty="0"/>
          </a:p>
        </p:txBody>
      </p:sp>
      <p:sp>
        <p:nvSpPr>
          <p:cNvPr id="6" name="Shape 2"/>
          <p:cNvSpPr/>
          <p:nvPr/>
        </p:nvSpPr>
        <p:spPr>
          <a:xfrm>
            <a:off x="8137922" y="2396609"/>
            <a:ext cx="2463165" cy="1521023"/>
          </a:xfrm>
          <a:prstGeom prst="roundRect">
            <a:avLst>
              <a:gd name="adj" fmla="val 7214"/>
            </a:avLst>
          </a:prstGeom>
          <a:solidFill>
            <a:srgbClr val="030303">
              <a:alpha val="75000"/>
            </a:srgbClr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8115062" y="2396609"/>
            <a:ext cx="91440" cy="1521023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</p:sp>
      <p:sp>
        <p:nvSpPr>
          <p:cNvPr id="8" name="Text 4"/>
          <p:cNvSpPr/>
          <p:nvPr/>
        </p:nvSpPr>
        <p:spPr>
          <a:xfrm>
            <a:off x="8399383" y="2589490"/>
            <a:ext cx="2008823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 Ingestion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8399383" y="2982754"/>
            <a:ext cx="200882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Streams, batch sources, feature stores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10728603" y="2396609"/>
            <a:ext cx="2463165" cy="1521023"/>
          </a:xfrm>
          <a:prstGeom prst="roundRect">
            <a:avLst>
              <a:gd name="adj" fmla="val 7214"/>
            </a:avLst>
          </a:prstGeom>
          <a:solidFill>
            <a:srgbClr val="030303">
              <a:alpha val="75000"/>
            </a:srgbClr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0705743" y="2396609"/>
            <a:ext cx="91440" cy="1521023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</p:sp>
      <p:sp>
        <p:nvSpPr>
          <p:cNvPr id="12" name="Text 8"/>
          <p:cNvSpPr/>
          <p:nvPr/>
        </p:nvSpPr>
        <p:spPr>
          <a:xfrm>
            <a:off x="10990064" y="2589490"/>
            <a:ext cx="2008823" cy="531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Drift Detection Engine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10990064" y="3248501"/>
            <a:ext cx="200882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KS Test, PSI, MMD statistical methods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37922" y="4045148"/>
            <a:ext cx="2463165" cy="1255276"/>
          </a:xfrm>
          <a:prstGeom prst="roundRect">
            <a:avLst>
              <a:gd name="adj" fmla="val 8741"/>
            </a:avLst>
          </a:prstGeom>
          <a:solidFill>
            <a:srgbClr val="030303">
              <a:alpha val="75000"/>
            </a:srgbClr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15062" y="4045148"/>
            <a:ext cx="91440" cy="1255276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</p:sp>
      <p:sp>
        <p:nvSpPr>
          <p:cNvPr id="16" name="Text 12"/>
          <p:cNvSpPr/>
          <p:nvPr/>
        </p:nvSpPr>
        <p:spPr>
          <a:xfrm>
            <a:off x="8399383" y="4238030"/>
            <a:ext cx="2008823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Action Agent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8399383" y="4631293"/>
            <a:ext cx="200882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Rule-based + ML-driven decision logic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10728603" y="4045148"/>
            <a:ext cx="2463165" cy="1255276"/>
          </a:xfrm>
          <a:prstGeom prst="roundRect">
            <a:avLst>
              <a:gd name="adj" fmla="val 8741"/>
            </a:avLst>
          </a:prstGeom>
          <a:solidFill>
            <a:srgbClr val="030303">
              <a:alpha val="75000"/>
            </a:srgbClr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0705743" y="4045148"/>
            <a:ext cx="91440" cy="1255276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</p:sp>
      <p:sp>
        <p:nvSpPr>
          <p:cNvPr id="20" name="Text 16"/>
          <p:cNvSpPr/>
          <p:nvPr/>
        </p:nvSpPr>
        <p:spPr>
          <a:xfrm>
            <a:off x="10990064" y="4238030"/>
            <a:ext cx="2008823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Retraining Pipeline</a:t>
            </a:r>
            <a:endParaRPr lang="en-US" sz="1650" dirty="0"/>
          </a:p>
        </p:txBody>
      </p:sp>
      <p:sp>
        <p:nvSpPr>
          <p:cNvPr id="21" name="Text 17"/>
          <p:cNvSpPr/>
          <p:nvPr/>
        </p:nvSpPr>
        <p:spPr>
          <a:xfrm>
            <a:off x="10990064" y="4631293"/>
            <a:ext cx="200882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MLflow + Kubeflow orchestration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8137922" y="5427940"/>
            <a:ext cx="2463165" cy="1521023"/>
          </a:xfrm>
          <a:prstGeom prst="roundRect">
            <a:avLst>
              <a:gd name="adj" fmla="val 7214"/>
            </a:avLst>
          </a:prstGeom>
          <a:solidFill>
            <a:srgbClr val="030303">
              <a:alpha val="75000"/>
            </a:srgbClr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115062" y="5427940"/>
            <a:ext cx="91440" cy="1521023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</p:sp>
      <p:sp>
        <p:nvSpPr>
          <p:cNvPr id="24" name="Text 20"/>
          <p:cNvSpPr/>
          <p:nvPr/>
        </p:nvSpPr>
        <p:spPr>
          <a:xfrm>
            <a:off x="8399383" y="5620822"/>
            <a:ext cx="2008823" cy="531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Observability Dashboard</a:t>
            </a:r>
            <a:endParaRPr lang="en-US" sz="1650" dirty="0"/>
          </a:p>
        </p:txBody>
      </p:sp>
      <p:sp>
        <p:nvSpPr>
          <p:cNvPr id="25" name="Text 21"/>
          <p:cNvSpPr/>
          <p:nvPr/>
        </p:nvSpPr>
        <p:spPr>
          <a:xfrm>
            <a:off x="8399383" y="6279833"/>
            <a:ext cx="200882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metrics, alerts, model health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97355"/>
            <a:ext cx="606611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Core Platform Features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859762"/>
            <a:ext cx="1767840" cy="1092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2357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Drift Detection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726186"/>
            <a:ext cx="304800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Statistical tests (KS, PSI, MMD) detect covariate and concept drift in real time.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278" y="2859762"/>
            <a:ext cx="1767840" cy="1092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25278" y="4235767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Performance Monitoring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125278" y="5080516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Track accuracy, F1, latency, and custom KPIs continuously across all deployed models.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884" y="2859762"/>
            <a:ext cx="1767840" cy="1092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56884" y="42357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Auto Retraining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456884" y="4726186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Automatically triggers retraining pipelines when drift severity exceeds defined thresholds.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491" y="2859762"/>
            <a:ext cx="1767840" cy="1092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88491" y="42357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Explainability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788491" y="4726186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SHAP-based feature attribution explains why drift occurred and which features shifted most.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670917"/>
            <a:ext cx="5883712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Drift Detection in Action</a:t>
            </a:r>
            <a:endParaRPr lang="en-US" sz="4150" dirty="0"/>
          </a:p>
        </p:txBody>
      </p:sp>
      <p:sp>
        <p:nvSpPr>
          <p:cNvPr id="3" name="Shape 1"/>
          <p:cNvSpPr/>
          <p:nvPr/>
        </p:nvSpPr>
        <p:spPr>
          <a:xfrm>
            <a:off x="744260" y="1858566"/>
            <a:ext cx="1104186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1010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600" y="1895118"/>
            <a:ext cx="91440" cy="91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9520" y="1881426"/>
            <a:ext cx="875586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Live Data Distribution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1909405" y="1858566"/>
            <a:ext cx="1059061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10101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2745" y="1895118"/>
            <a:ext cx="91440" cy="914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084665" y="1881426"/>
            <a:ext cx="830461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Training Distribution</a:t>
            </a:r>
            <a:endParaRPr lang="en-US" sz="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260" y="2099310"/>
            <a:ext cx="7677626" cy="391489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948142" y="1833682"/>
            <a:ext cx="3410426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Two Types of Drift Detected</a:t>
            </a:r>
            <a:endParaRPr lang="en-US" sz="2050" dirty="0"/>
          </a:p>
        </p:txBody>
      </p:sp>
      <p:sp>
        <p:nvSpPr>
          <p:cNvPr id="11" name="Shape 6"/>
          <p:cNvSpPr/>
          <p:nvPr/>
        </p:nvSpPr>
        <p:spPr>
          <a:xfrm>
            <a:off x="8948142" y="2390180"/>
            <a:ext cx="4945499" cy="1661755"/>
          </a:xfrm>
          <a:prstGeom prst="roundRect">
            <a:avLst>
              <a:gd name="adj" fmla="val 11517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9183648" y="2625685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 Drift</a:t>
            </a:r>
            <a:endParaRPr lang="en-US" sz="2050" dirty="0"/>
          </a:p>
        </p:txBody>
      </p:sp>
      <p:sp>
        <p:nvSpPr>
          <p:cNvPr id="13" name="Text 8"/>
          <p:cNvSpPr/>
          <p:nvPr/>
        </p:nvSpPr>
        <p:spPr>
          <a:xfrm>
            <a:off x="9183648" y="3157299"/>
            <a:ext cx="4474488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Input feature distributions shift — model receives data unlike what it was trained on.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8948142" y="4251246"/>
            <a:ext cx="4945499" cy="1661755"/>
          </a:xfrm>
          <a:prstGeom prst="roundRect">
            <a:avLst>
              <a:gd name="adj" fmla="val 11517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9183648" y="4486751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Concept Drift</a:t>
            </a:r>
            <a:endParaRPr lang="en-US" sz="2050" dirty="0"/>
          </a:p>
        </p:txBody>
      </p:sp>
      <p:sp>
        <p:nvSpPr>
          <p:cNvPr id="16" name="Text 11"/>
          <p:cNvSpPr/>
          <p:nvPr/>
        </p:nvSpPr>
        <p:spPr>
          <a:xfrm>
            <a:off x="9183648" y="5018365"/>
            <a:ext cx="4474488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relationship between inputs and outputs changes — ground truth evolves over time.</a:t>
            </a:r>
            <a:endParaRPr lang="en-US" sz="1650" dirty="0"/>
          </a:p>
        </p:txBody>
      </p:sp>
      <p:sp>
        <p:nvSpPr>
          <p:cNvPr id="17" name="Shape 12"/>
          <p:cNvSpPr/>
          <p:nvPr/>
        </p:nvSpPr>
        <p:spPr>
          <a:xfrm>
            <a:off x="8948142" y="6137196"/>
            <a:ext cx="4945499" cy="1197173"/>
          </a:xfrm>
          <a:prstGeom prst="roundRect">
            <a:avLst>
              <a:gd name="adj" fmla="val 15986"/>
            </a:avLst>
          </a:prstGeom>
          <a:solidFill>
            <a:srgbClr val="4B3F02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0788" y="6453068"/>
            <a:ext cx="265748" cy="21264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639181" y="6389608"/>
            <a:ext cx="4041815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Drift detected at Week 4 — auto-retraining triggered automatically.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1460" y="514945"/>
            <a:ext cx="6181368" cy="553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End-to-End Workflow Pipeline</a:t>
            </a:r>
            <a:endParaRPr lang="en-US" sz="3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0828" y="1345525"/>
            <a:ext cx="10908506" cy="59608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99278" y="4138544"/>
            <a:ext cx="2527597" cy="343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Prediction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9681891" y="4099761"/>
            <a:ext cx="2527596" cy="343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Monitoring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6563948" y="4112179"/>
            <a:ext cx="2527597" cy="343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Retrain &amp; Deploy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201460" y="7462123"/>
            <a:ext cx="1222736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entire pipeline executes </a:t>
            </a:r>
            <a:r>
              <a:rPr lang="en-US" sz="135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autonomously</a:t>
            </a: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from live prediction to validated redeployment — with full audit trail at every step.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2680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Platform Benefits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02562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95%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2565916" y="34343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Uptime SLA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924776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reliability maintained through continuous health checks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456884" y="2402562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10x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9229130" y="34343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Faster Response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56884" y="3924776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detection vs. manual discovery of model failures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4854654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0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2565916" y="58864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Manual Triggers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93790" y="6376868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 human intervention needed for routine retraining cycles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456884" y="4854654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100%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9229130" y="58864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Audit Coverage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456884" y="6376868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drift event, decision, and retrain fully logged and traceable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56246" y="540782"/>
            <a:ext cx="7804309" cy="239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00"/>
              </a:lnSpc>
              <a:buNone/>
            </a:pPr>
            <a:r>
              <a:rPr lang="en-US" sz="75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Not a model.</a:t>
            </a:r>
            <a:endParaRPr lang="en-US" sz="7500" dirty="0"/>
          </a:p>
          <a:p>
            <a:pPr marL="0" indent="0" algn="ctr">
              <a:lnSpc>
                <a:spcPts val="9400"/>
              </a:lnSpc>
              <a:buNone/>
            </a:pPr>
            <a:r>
              <a:rPr lang="en-US" sz="75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 system.</a:t>
            </a:r>
            <a:endParaRPr lang="en-US" sz="7500" dirty="0"/>
          </a:p>
        </p:txBody>
      </p:sp>
      <p:sp>
        <p:nvSpPr>
          <p:cNvPr id="4" name="Text 1"/>
          <p:cNvSpPr/>
          <p:nvPr/>
        </p:nvSpPr>
        <p:spPr>
          <a:xfrm>
            <a:off x="6156246" y="3175159"/>
            <a:ext cx="7804309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</a:t>
            </a:r>
            <a:r>
              <a:rPr lang="en-US" sz="150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production-ready MLOps platform</a:t>
            </a: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that monitors, adapts, and evolves — keeping AI reliable long after deployment.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156246" y="3921085"/>
            <a:ext cx="765453" cy="1148239"/>
          </a:xfrm>
          <a:prstGeom prst="roundRect">
            <a:avLst>
              <a:gd name="adj" fmla="val 360042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5442" y="4351615"/>
            <a:ext cx="287060" cy="2870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83147" y="4112419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Self-Healing ML</a:t>
            </a:r>
            <a:endParaRPr lang="en-US" sz="1850" dirty="0"/>
          </a:p>
        </p:txBody>
      </p:sp>
      <p:sp>
        <p:nvSpPr>
          <p:cNvPr id="8" name="Shape 4"/>
          <p:cNvSpPr/>
          <p:nvPr/>
        </p:nvSpPr>
        <p:spPr>
          <a:xfrm>
            <a:off x="6156246" y="5230773"/>
            <a:ext cx="765453" cy="1148239"/>
          </a:xfrm>
          <a:prstGeom prst="roundRect">
            <a:avLst>
              <a:gd name="adj" fmla="val 360042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95442" y="5661303"/>
            <a:ext cx="287060" cy="2870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83147" y="5422106"/>
            <a:ext cx="2916555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Multi-Model Orchestration</a:t>
            </a:r>
            <a:endParaRPr lang="en-US" sz="1850" dirty="0"/>
          </a:p>
        </p:txBody>
      </p:sp>
      <p:sp>
        <p:nvSpPr>
          <p:cNvPr id="11" name="Shape 6"/>
          <p:cNvSpPr/>
          <p:nvPr/>
        </p:nvSpPr>
        <p:spPr>
          <a:xfrm>
            <a:off x="6156246" y="6540460"/>
            <a:ext cx="765453" cy="1148239"/>
          </a:xfrm>
          <a:prstGeom prst="roundRect">
            <a:avLst>
              <a:gd name="adj" fmla="val 360042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95442" y="6970990"/>
            <a:ext cx="287060" cy="2870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083147" y="6731794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Edge Deployment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490</Words>
  <Application>Microsoft Office PowerPoint</Application>
  <PresentationFormat>Custom</PresentationFormat>
  <Paragraphs>93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-apple-system, BlinkMacSystemFont, Segoe UI, Roboto, Helvetica Neue, Arial, sans-serif Medium</vt:lpstr>
      <vt:lpstr>Roboto</vt:lpstr>
      <vt:lpstr>Arial</vt:lpstr>
      <vt:lpstr>Saira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Anjali kumari</dc:creator>
  <cp:lastModifiedBy>Anjali kumari</cp:lastModifiedBy>
  <cp:revision>2</cp:revision>
  <dcterms:created xsi:type="dcterms:W3CDTF">2026-05-01T05:23:18Z</dcterms:created>
  <dcterms:modified xsi:type="dcterms:W3CDTF">2026-05-01T05:35:21Z</dcterms:modified>
</cp:coreProperties>
</file>